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66c459461e4a5c" /><Relationship Type="http://schemas.openxmlformats.org/officeDocument/2006/relationships/extended-properties" Target="/docProps/app.xml" Id="R04b450663e0c4b7a" /><Relationship Type="http://schemas.openxmlformats.org/officeDocument/2006/relationships/officeDocument" Target="/ppt/presentation.xml" Id="Rbb474a87442a43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58cbac23f44f16"/>
  </p:sldMasterIdLst>
  <p:notesMasterIdLst>
    <p:notesMasterId xmlns:r="http://schemas.openxmlformats.org/officeDocument/2006/relationships" r:id="R161153dc34184dce"/>
  </p:notesMasterIdLst>
  <p:sldIdLst>
    <p:sldId xmlns:r="http://schemas.openxmlformats.org/officeDocument/2006/relationships" id="256" r:id="R43b9acb8c531494c"/>
    <p:sldId xmlns:r="http://schemas.openxmlformats.org/officeDocument/2006/relationships" id="257" r:id="R540c5001d3ea4262"/>
    <p:sldId xmlns:r="http://schemas.openxmlformats.org/officeDocument/2006/relationships" id="258" r:id="R6177cd0a12b04a5f"/>
    <p:sldId xmlns:r="http://schemas.openxmlformats.org/officeDocument/2006/relationships" id="259" r:id="Rab061fa878b44eae"/>
    <p:sldId xmlns:r="http://schemas.openxmlformats.org/officeDocument/2006/relationships" id="260" r:id="R4a1b63504a454a05"/>
    <p:sldId xmlns:r="http://schemas.openxmlformats.org/officeDocument/2006/relationships" id="261" r:id="Rbfaa6ff0b907464e"/>
    <p:sldId xmlns:r="http://schemas.openxmlformats.org/officeDocument/2006/relationships" id="262" r:id="Rfc76b5baacd540dc"/>
    <p:sldId xmlns:r="http://schemas.openxmlformats.org/officeDocument/2006/relationships" id="263" r:id="R90b00d0e3186464a"/>
    <p:sldId xmlns:r="http://schemas.openxmlformats.org/officeDocument/2006/relationships" id="264" r:id="R6d7d690494ba4559"/>
    <p:sldId xmlns:r="http://schemas.openxmlformats.org/officeDocument/2006/relationships" id="265" r:id="R033b6aec0db64fde"/>
    <p:sldId xmlns:r="http://schemas.openxmlformats.org/officeDocument/2006/relationships" id="266" r:id="R40e553a0f09c4c4c"/>
    <p:sldId xmlns:r="http://schemas.openxmlformats.org/officeDocument/2006/relationships" id="267" r:id="R0434cab81bc649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229cd824774973" /><Relationship Type="http://schemas.openxmlformats.org/officeDocument/2006/relationships/slideMaster" Target="/ppt/slideMasters/slideMaster1.xml" Id="R9158cbac23f44f16" /><Relationship Type="http://schemas.openxmlformats.org/officeDocument/2006/relationships/notesMaster" Target="/ppt/notesMasters/notesMaster1.xml" Id="R161153dc34184dce" /><Relationship Type="http://schemas.openxmlformats.org/officeDocument/2006/relationships/presProps" Target="/ppt/presProps.xml" Id="Rbfda7e76832144d0" /><Relationship Type="http://schemas.openxmlformats.org/officeDocument/2006/relationships/tableStyles" Target="/ppt/tableStyles.xml" Id="R6bd649394ca340ad" /><Relationship Type="http://schemas.openxmlformats.org/officeDocument/2006/relationships/slide" Target="/ppt/slides/slide1.xml" Id="R43b9acb8c531494c" /><Relationship Type="http://schemas.openxmlformats.org/officeDocument/2006/relationships/slide" Target="/ppt/slides/slide2.xml" Id="R540c5001d3ea4262" /><Relationship Type="http://schemas.openxmlformats.org/officeDocument/2006/relationships/slide" Target="/ppt/slides/slide3.xml" Id="R6177cd0a12b04a5f" /><Relationship Type="http://schemas.openxmlformats.org/officeDocument/2006/relationships/slide" Target="/ppt/slides/slide4.xml" Id="Rab061fa878b44eae" /><Relationship Type="http://schemas.openxmlformats.org/officeDocument/2006/relationships/slide" Target="/ppt/slides/slide5.xml" Id="R4a1b63504a454a05" /><Relationship Type="http://schemas.openxmlformats.org/officeDocument/2006/relationships/slide" Target="/ppt/slides/slide6.xml" Id="Rbfaa6ff0b907464e" /><Relationship Type="http://schemas.openxmlformats.org/officeDocument/2006/relationships/slide" Target="/ppt/slides/slide7.xml" Id="Rfc76b5baacd540dc" /><Relationship Type="http://schemas.openxmlformats.org/officeDocument/2006/relationships/slide" Target="/ppt/slides/slide8.xml" Id="R90b00d0e3186464a" /><Relationship Type="http://schemas.openxmlformats.org/officeDocument/2006/relationships/slide" Target="/ppt/slides/slide9.xml" Id="R6d7d690494ba4559" /><Relationship Type="http://schemas.openxmlformats.org/officeDocument/2006/relationships/slide" Target="/ppt/slides/slide10.xml" Id="R033b6aec0db64fde" /><Relationship Type="http://schemas.openxmlformats.org/officeDocument/2006/relationships/slide" Target="/ppt/slides/slide11.xml" Id="R40e553a0f09c4c4c" /><Relationship Type="http://schemas.openxmlformats.org/officeDocument/2006/relationships/slide" Target="/ppt/slides/slide12.xml" Id="R0434cab81bc649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6f4cb28ef445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43d8e7d0534699" /><Relationship Type="http://schemas.openxmlformats.org/officeDocument/2006/relationships/notesMaster" Target="/ppt/notesMasters/notesMaster1.xml" Id="R679cd9e8e3ff46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e5b92c59104930" /><Relationship Type="http://schemas.openxmlformats.org/officeDocument/2006/relationships/notesMaster" Target="/ppt/notesMasters/notesMaster1.xml" Id="R3b6f6ad5b8de49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90428da24b4e23" /><Relationship Type="http://schemas.openxmlformats.org/officeDocument/2006/relationships/notesMaster" Target="/ppt/notesMasters/notesMaster1.xml" Id="R915b56d928ab46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12f5ffa0a0414a" /><Relationship Type="http://schemas.openxmlformats.org/officeDocument/2006/relationships/notesMaster" Target="/ppt/notesMasters/notesMaster1.xml" Id="Re0d86c66fb5344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67459eb8d441e1" /><Relationship Type="http://schemas.openxmlformats.org/officeDocument/2006/relationships/notesMaster" Target="/ppt/notesMasters/notesMaster1.xml" Id="R3edf3c1ab9644c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2316f818c94530" /><Relationship Type="http://schemas.openxmlformats.org/officeDocument/2006/relationships/notesMaster" Target="/ppt/notesMasters/notesMaster1.xml" Id="Rf64cc1bdf01a41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9cbb6c918f4d56" /><Relationship Type="http://schemas.openxmlformats.org/officeDocument/2006/relationships/notesMaster" Target="/ppt/notesMasters/notesMaster1.xml" Id="Rb88f3d4ea1b348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74c9eec9dd4cef" /><Relationship Type="http://schemas.openxmlformats.org/officeDocument/2006/relationships/notesMaster" Target="/ppt/notesMasters/notesMaster1.xml" Id="R6ce9cba72d0e4a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7f1a254d454d0b" /><Relationship Type="http://schemas.openxmlformats.org/officeDocument/2006/relationships/notesMaster" Target="/ppt/notesMasters/notesMaster1.xml" Id="R170d8001c10e43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4ba4ae5baf4943" /><Relationship Type="http://schemas.openxmlformats.org/officeDocument/2006/relationships/notesMaster" Target="/ppt/notesMasters/notesMaster1.xml" Id="R7a4da52a03a949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13aef49958471d" /><Relationship Type="http://schemas.openxmlformats.org/officeDocument/2006/relationships/notesMaster" Target="/ppt/notesMasters/notesMaster1.xml" Id="R2cdf21737bf945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416c788e334492" /><Relationship Type="http://schemas.openxmlformats.org/officeDocument/2006/relationships/notesMaster" Target="/ppt/notesMasters/notesMaster1.xml" Id="Rca5d3134c8264a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outcome: an AI sales executive that supports the complete inquiry-to-order process while the business owner retains control. State clearly that this is a concept and prototype overview, not a production launch.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current reality for many MSMEs: the problem is not lack of customer demand; it is fragmented execution between channels, spreadsheets, employees and operational departments.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product beyond chatbots. The system is intended to maintain business state, select the next action and execute only what company policy permits.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the same customer and deal identity continues through the workflow instead of creating disconnected records at each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simple phrase: AI proposes, policies authorize, business tools execute, and the owner approves exceptions. This is the core trust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the source-of-truth boundaries. PostgreSQL owns exact operational facts. Qdrant assists semantic retrieval. LangGraph tracks workflow execution. Important business outcomes are persisted in normal CRM 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founder is not expected to operate every CRM field. The interface is designed around approvals, risks, pipeline value and completed AI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claims qualitative because the prototype has not completed production pilots. These are the intended impact areas to measure with pilot customers.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a land-and-expand model without committing to final prices. Begin with paid workflow discovery, convert successful pilots into subscriptions, then add integrations and tailored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Focus early customer discovery on companies with repeated quotation workflows and measurable delays. Avoid trying to serve every industry at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transparent: the technical foundation exists, but the authority layer, polished command centre and production hardening remain the next steps. Trust is built before autonomy is expanded.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specific request: invite manufacturers and B2B MSMEs to share an anonymized inquiry-to-order process for a short discovery session and potential pilot. Do not ask them to adopt an unfinished production system today.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sales-agent architecture, implementation status and event brief, 8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a115ab8e44c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e7f60d429c431c" /><Relationship Type="http://schemas.openxmlformats.org/officeDocument/2006/relationships/slideLayout" Target="/ppt/slideLayouts/slideLayout1.xml" Id="R4c3cded8f8814f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3cded8f8814f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053baeb9f4ceb" /><Relationship Type="http://schemas.openxmlformats.org/officeDocument/2006/relationships/notesSlide" Target="/ppt/notesSlides/notesSlide1.xml" Id="Rf0fad9b7857943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76e43d07f434c" /><Relationship Type="http://schemas.openxmlformats.org/officeDocument/2006/relationships/notesSlide" Target="/ppt/notesSlides/notesSlide2.xml" Id="Raf249ff84eb14f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64b265da94ea9" /><Relationship Type="http://schemas.openxmlformats.org/officeDocument/2006/relationships/notesSlide" Target="/ppt/notesSlides/notesSlide3.xml" Id="Rd5c6fdb0a3e749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cc943ccf64bdd" /><Relationship Type="http://schemas.openxmlformats.org/officeDocument/2006/relationships/notesSlide" Target="/ppt/notesSlides/notesSlide4.xml" Id="Rdc387439da4c44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1032f24104217" /><Relationship Type="http://schemas.openxmlformats.org/officeDocument/2006/relationships/notesSlide" Target="/ppt/notesSlides/notesSlide5.xml" Id="R9a833bcff2824b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ede5446704268" /><Relationship Type="http://schemas.openxmlformats.org/officeDocument/2006/relationships/notesSlide" Target="/ppt/notesSlides/notesSlide6.xml" Id="Rb00aef1d0cc241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55d400afe4728" /><Relationship Type="http://schemas.openxmlformats.org/officeDocument/2006/relationships/notesSlide" Target="/ppt/notesSlides/notesSlide7.xml" Id="R447ab7c715f946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7e691bcdf44aa" /><Relationship Type="http://schemas.openxmlformats.org/officeDocument/2006/relationships/notesSlide" Target="/ppt/notesSlides/notesSlide8.xml" Id="Ra2d28f3037cf4c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e380ad8424a23" /><Relationship Type="http://schemas.openxmlformats.org/officeDocument/2006/relationships/notesSlide" Target="/ppt/notesSlides/notesSlide9.xml" Id="R7becc733938749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07a7f14214ae1" /><Relationship Type="http://schemas.openxmlformats.org/officeDocument/2006/relationships/notesSlide" Target="/ppt/notesSlides/notesSlide10.xml" Id="R96a84af1aa4743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dda2b3c954805" /><Relationship Type="http://schemas.openxmlformats.org/officeDocument/2006/relationships/notesSlide" Target="/ppt/notesSlides/notesSlide11.xml" Id="Re6a1313cf4364a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fd141819d439f" /><Relationship Type="http://schemas.openxmlformats.org/officeDocument/2006/relationships/notesSlide" Target="/ppt/notesSlides/notesSlide12.xml" Id="Rf51b230cd92446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BE6C099-6DD3-4030-A9BA-D8116CD6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Jarvis for
industrial sales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B7B2894-BB0A-4520-AB53-79E21740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AI-native sales operations system and CRM for manufacturers, MSMEs and B2B companies · Concept &amp; prototype overview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7162A30-3B66-4AD3-99E0-EEDB73E5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FUTURE READY CONCLAVE 2026 · AGRA</a:t>
            </a:r>
          </a:p>
        </p:txBody>
      </p:sp>
    </p:spTree>
    <p:extLst>
      <p:ext uri="{BB962C8B-B14F-4D97-AF65-F5344CB8AC3E}">
        <p14:creationId xmlns:p14="http://schemas.microsoft.com/office/powerpoint/2010/main" val="15042192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BD72AEA-698B-4D9C-BDD0-D9435594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0B98D84-7F15-41FD-B52D-3D12D804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Industrial sales still depends on fragmented manual work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C2DF95B-D9D1-483B-8795-1FA9749F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Inquiries get scattered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Website, email and WhatsApp leads enter different inboxes. Context is copied manually and follow-ups can be missed.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BE344112-C29D-4ED6-B055-05CA5CE9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442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Knowledge stays with people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Negotiations, buying patterns and payment behaviour are often remembered by individuals—not by the business.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5C707655-3B42-4D3F-AE44-E0D7A3DF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Quotations take time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Sales teams search spreadsheets, customer history, stock, transport and pricing rules before responding.</a:t>
            </a:r>
          </a:p>
        </p:txBody>
      </p:sp>
    </p:spTree>
    <p:extLst>
      <p:ext uri="{BB962C8B-B14F-4D97-AF65-F5344CB8AC3E}">
        <p14:creationId xmlns:p14="http://schemas.microsoft.com/office/powerpoint/2010/main" val="18154200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5ED936B-80E3-4CD1-BF5E-B56AC553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C97ACF9-6956-49AB-998E-3F3F514E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AI-native CRM turns records into controlled action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7A97A44F-6B13-4231-86B6-75C6B44E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4980DF6-E382-454C-9978-A247D023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TODAY · Disconnected tools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38ADDF5-FF43-4B5D-9507-C6BD0A9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Manual lead capture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Delayed follow-up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Customer memory in inboxes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065E7027-4718-4BC1-A0AF-2BAA99F5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2772385-4E04-4C58-B5EA-18F72BAC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FUTURE · Owner-controlled AI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6CB82F1-4D96-4A5F-8649-371AA096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Unified customer context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Workflow-driven execution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Approvals for sensitive actions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F99FD07-47B6-48AC-B715-13E85598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operating shift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traditional CRM records what employees already did.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AI-native CRM understands events, recommends the next step and performs permitted work through controlled business tools.</a:t>
            </a:r>
          </a:p>
        </p:txBody>
      </p:sp>
    </p:spTree>
    <p:extLst>
      <p:ext uri="{BB962C8B-B14F-4D97-AF65-F5344CB8AC3E}">
        <p14:creationId xmlns:p14="http://schemas.microsoft.com/office/powerpoint/2010/main" val="884747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E338065-AF27-46C4-A28A-5F2CD7EE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135F38E-7551-491F-A521-39F1A5A6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persistent workflow connects inquiry, quotation and order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02FBD89-3078-47E7-A8B0-BADCCF2C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DFB417E-5837-4A49-8FDA-C3D5DD11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8EF9DB7-22F0-4AE5-95DE-D8E24324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321B192-3CF8-4EB4-B808-A0278D12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318B402-9CF1-4928-A3A2-507D9C69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8D289B4-CC62-4CB3-A326-807187C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CONVERT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EE5CBC6-36D5-4E05-ADE2-3B1587BC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and quote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stock, capacity, delivery, pricing, margin, GST, transport and credit. Pause when owner approval is required.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81D3063-30D6-4DCC-AA26-50F58219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Understand the opportunity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 website, email and WhatsApp inquiries. Extract requirements, identify the customer and resolve the exact product.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136C0D6-0C47-4EBA-9AAB-76E229C0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Follow through to handoff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Send the quotation, follow up, understand replies, validate the PO, create the sales order and notify departments.</a:t>
            </a:r>
          </a:p>
        </p:txBody>
      </p:sp>
    </p:spTree>
    <p:extLst>
      <p:ext uri="{BB962C8B-B14F-4D97-AF65-F5344CB8AC3E}">
        <p14:creationId xmlns:p14="http://schemas.microsoft.com/office/powerpoint/2010/main" val="17208660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5B2B2ED-FB73-4775-BBD3-BF222CA1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D1229C9-0DAB-4119-A0D8-C9FDF4AC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autonomy remains inside company-defined commercial boundaries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E7901432-F6F0-4346-89FB-49241742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F63B7B19-5983-4407-AECF-53E34283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13C25BC-7A02-4E88-A50B-D771815D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 engine decides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Checks exact data, authority limits, risk and required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DC317D7-4A6F-40EC-8363-A70EA854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Owner controls exceptions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Approves discounts, credit changes and PO exceptions.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9735C757-5C72-4B89-9B16-26870C5B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99353ADE-4B82-4FD3-AFEC-FA7F6A8D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EDA0B995-083D-4E1B-B2CB-C85C8522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26E66E9-02B2-459A-9034-C47B1EAF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interprets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Understands intent, summarizes context and drafts communication.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D1C95C86-1185-4B96-9A07-6E6400AA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A06CB379-0AA2-45BF-A2B1-C7323BF9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safety principle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Gemini can understand messages and draft communication.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rules decide money, authority, inventory, credit and order commitments.</a:t>
            </a:r>
          </a:p>
        </p:txBody>
      </p:sp>
    </p:spTree>
    <p:extLst>
      <p:ext uri="{BB962C8B-B14F-4D97-AF65-F5344CB8AC3E}">
        <p14:creationId xmlns:p14="http://schemas.microsoft.com/office/powerpoint/2010/main" val="15798278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F0FD6E3-27FC-4466-8BB8-D674948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69CCCFF-F379-4FBD-A2A6-097EADB2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CRM becomes the business memory—not another isolated application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F620B297-7A69-4DFD-B1E9-AB020377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Customers · prices · inventory · orders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AE3BF61-951C-4FFC-9FD7-8E526727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7985CAC1-4E85-426B-A0D6-D07BBA9E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Documents · notes · narrative memory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FBFA33-C3AE-4EC1-ABD7-07194ABC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QDRANT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8D974AC-36F8-4F2D-A5BF-B1B1E645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3355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Workflow state · waiting reasons · resume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006CD035-BAB7-4F32-840D-D0304B2B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LANGGRAPH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14724B0-8585-4CA0-8563-BC0BD5B7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Who acted · why · policy · result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4DCAED20-A70C-457D-8848-8583AEA7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369E9576-F9CE-4F1D-A65F-B9260B60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business 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Customers, interactions, quotations, orders, payments and AI actions remain connected by permanent identities.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holds exact facts; Qdrant supports semantic memory; LangGraph preserves long-running workflow state.</a:t>
            </a:r>
          </a:p>
        </p:txBody>
      </p:sp>
    </p:spTree>
    <p:extLst>
      <p:ext uri="{BB962C8B-B14F-4D97-AF65-F5344CB8AC3E}">
        <p14:creationId xmlns:p14="http://schemas.microsoft.com/office/powerpoint/2010/main" val="9225060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980D0C1-A93B-4450-B147-C3458F6D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7D8DC6A-142F-4987-A350-5F63BC80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Owner command centre: decisions, risks and outcomes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2386C704-24DC-40FF-AC14-AABF31FC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93D81F2-D2D4-4F4B-ABBC-4ED75D23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Revenue pipeline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RFQs, quotations, accepted terms, POs and orders.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7E6B5C26-5AF0-4396-BE55-6B3CAA44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6918692-CE72-44B5-9896-BCB03B43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Pending approvals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Commercial impact, policy reason, evidence and expiry.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953680AC-2ADF-4CD4-9F65-A4C887C6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9CA73367-3499-42B9-B76A-63CD618E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 AI actions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happened, why it happened and the audit reference.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CC790DF7-D268-4CCA-B413-285E0E84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B9B6B33B-02F2-4109-8B9B-A4AA6EDA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Risks and attention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Stalled deals, expiring quotes, payment and delivery risks.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3E7EF4A-47F6-4189-A875-BF39BAF4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Founder command centre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single interface focuses attention on what requires a human decision and what Jarvis completed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49863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5A853F1-3865-4FBF-8999-1C4844A5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1929BA4-D6CC-4029-8B5B-BC174BD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business impact is faster execution with stronger control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863214B-E039-4FFE-BC8A-9D5F0981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Response discipline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Fewer manual handoffs between inquiry, feasibility, pricing and quotation.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A91F650-0AAF-438A-9A61-B6BBD597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Revenue protection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Consistent follow-ups, validity checks and visibility into stalled opportunities.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4367EE4-0D71-442F-8054-73F4E80B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Commercial governance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calculations, configurable authority and human approval for exceptions.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6E73381-6C89-4559-AFFD-023DBEBB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Institutional memory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Customer history and buying behaviour remain with the business as teams change.</a:t>
            </a:r>
          </a:p>
        </p:txBody>
      </p:sp>
    </p:spTree>
    <p:extLst>
      <p:ext uri="{BB962C8B-B14F-4D97-AF65-F5344CB8AC3E}">
        <p14:creationId xmlns:p14="http://schemas.microsoft.com/office/powerpoint/2010/main" val="16217750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7D6636D-1405-4FCE-A036-D9D1BF17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7-3">
            <a:extLst xmlns:a="http://schemas.openxmlformats.org/drawingml/2006/main">
              <a:ext uri="{FF2B5EF4-FFF2-40B4-BE49-F238E27FC236}">
                <a16:creationId xmlns:a16="http://schemas.microsoft.com/office/drawing/2014/main" id="{B39F8D58-4F80-48FD-95C3-ACA31E3D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focused pilot grows into a recurring platform</a:t>
            </a:r>
          </a:p>
        </p:txBody>
      </p:sp>
      <p:sp>
        <p:nvSpPr>
          <p:cNvPr id="3" name="Rounded-Rectangle-4-4">
            <a:extLst xmlns:a="http://schemas.openxmlformats.org/drawingml/2006/main">
              <a:ext uri="{FF2B5EF4-FFF2-40B4-BE49-F238E27FC236}">
                <a16:creationId xmlns:a16="http://schemas.microsoft.com/office/drawing/2014/main" id="{592535ED-E02F-42C6-8929-6FA24C8D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8-5">
            <a:extLst xmlns:a="http://schemas.openxmlformats.org/drawingml/2006/main">
              <a:ext uri="{FF2B5EF4-FFF2-40B4-BE49-F238E27FC236}">
                <a16:creationId xmlns:a16="http://schemas.microsoft.com/office/drawing/2014/main" id="{B4672FC2-E557-4401-A63D-33CC5B5A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ENTRY</a:t>
            </a:r>
          </a:p>
        </p:txBody>
      </p:sp>
      <p:sp>
        <p:nvSpPr>
          <p:cNvPr id="5" name="Content-Placeholder-8-6">
            <a:extLst xmlns:a="http://schemas.openxmlformats.org/drawingml/2006/main">
              <a:ext uri="{FF2B5EF4-FFF2-40B4-BE49-F238E27FC236}">
                <a16:creationId xmlns:a16="http://schemas.microsoft.com/office/drawing/2014/main" id="{5B138C5D-2239-4D27-BB05-5137AA07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</a:t>
            </a:r>
          </a:p>
        </p:txBody>
      </p:sp>
      <p:sp>
        <p:nvSpPr>
          <p:cNvPr id="6" name="Content-Placeholder-8-7">
            <a:extLst xmlns:a="http://schemas.openxmlformats.org/drawingml/2006/main">
              <a:ext uri="{FF2B5EF4-FFF2-40B4-BE49-F238E27FC236}">
                <a16:creationId xmlns:a16="http://schemas.microsoft.com/office/drawing/2014/main" id="{81569442-7946-4C1B-835C-9C2A1B03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32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Scoped</a:t>
            </a:r>
          </a:p>
        </p:txBody>
      </p:sp>
      <p:sp>
        <p:nvSpPr>
          <p:cNvPr id="7" name="Rounded-Rectangle-1-9">
            <a:extLst xmlns:a="http://schemas.openxmlformats.org/drawingml/2006/main">
              <a:ext uri="{FF2B5EF4-FFF2-40B4-BE49-F238E27FC236}">
                <a16:creationId xmlns:a16="http://schemas.microsoft.com/office/drawing/2014/main" id="{28F69D6B-E0DB-4ADC-BED2-4AAF1D9C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10">
            <a:extLst xmlns:a="http://schemas.openxmlformats.org/drawingml/2006/main">
              <a:ext uri="{FF2B5EF4-FFF2-40B4-BE49-F238E27FC236}">
                <a16:creationId xmlns:a16="http://schemas.microsoft.com/office/drawing/2014/main" id="{63C7965A-DE55-4749-9355-19EF240A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Platform subscription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sales agent, CRM memory, channels, approvals and management visibility.</a:t>
            </a:r>
          </a:p>
        </p:txBody>
      </p:sp>
      <p:sp>
        <p:nvSpPr>
          <p:cNvPr id="9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5A31DC22-7273-4D52-BE41-E4F34694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RECURRING</a:t>
            </a:r>
          </a:p>
        </p:txBody>
      </p:sp>
      <p:sp>
        <p:nvSpPr>
          <p:cNvPr id="10" name="Content-Placeholder-8-12">
            <a:extLst xmlns:a="http://schemas.openxmlformats.org/drawingml/2006/main">
              <a:ext uri="{FF2B5EF4-FFF2-40B4-BE49-F238E27FC236}">
                <a16:creationId xmlns:a16="http://schemas.microsoft.com/office/drawing/2014/main" id="{1F16D7AB-9ED2-4D99-ABD8-96B093BB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SaaS</a:t>
            </a:r>
          </a:p>
        </p:txBody>
      </p:sp>
      <p:sp>
        <p:nvSpPr>
          <p:cNvPr id="11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3B3209CB-0966-4C4D-9A50-178C5594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Tenant</a:t>
            </a:r>
          </a:p>
        </p:txBody>
      </p:sp>
      <p:sp>
        <p:nvSpPr>
          <p:cNvPr id="12" name="Rounded-Rectangle-12-15">
            <a:extLst xmlns:a="http://schemas.openxmlformats.org/drawingml/2006/main">
              <a:ext uri="{FF2B5EF4-FFF2-40B4-BE49-F238E27FC236}">
                <a16:creationId xmlns:a16="http://schemas.microsoft.com/office/drawing/2014/main" id="{14F97E59-80D5-44E5-9292-3BB28943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32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Content-Placeholder-8-16">
            <a:extLst xmlns:a="http://schemas.openxmlformats.org/drawingml/2006/main">
              <a:ext uri="{FF2B5EF4-FFF2-40B4-BE49-F238E27FC236}">
                <a16:creationId xmlns:a16="http://schemas.microsoft.com/office/drawing/2014/main" id="{25339BC5-55C7-4B4B-8CD7-CB899A1E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Integration &amp; support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ERP connectors, custom policies, onboarding and operational support.</a:t>
            </a:r>
          </a:p>
        </p:txBody>
      </p:sp>
      <p:sp>
        <p:nvSpPr>
          <p:cNvPr id="14" name="Content-Placeholder-8-17">
            <a:extLst xmlns:a="http://schemas.openxmlformats.org/drawingml/2006/main">
              <a:ext uri="{FF2B5EF4-FFF2-40B4-BE49-F238E27FC236}">
                <a16:creationId xmlns:a16="http://schemas.microsoft.com/office/drawing/2014/main" id="{322A41CA-5745-41D8-A361-3E321F25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EXPANSION</a:t>
            </a:r>
          </a:p>
        </p:txBody>
      </p:sp>
      <p:sp>
        <p:nvSpPr>
          <p:cNvPr id="15" name="Content-Placeholder-8-18">
            <a:extLst xmlns:a="http://schemas.openxmlformats.org/drawingml/2006/main">
              <a:ext uri="{FF2B5EF4-FFF2-40B4-BE49-F238E27FC236}">
                <a16:creationId xmlns:a16="http://schemas.microsoft.com/office/drawing/2014/main" id="{46F38176-B2F4-4E16-822A-B14DF418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Custom</a:t>
            </a:r>
          </a:p>
        </p:txBody>
      </p:sp>
      <p:sp>
        <p:nvSpPr>
          <p:cNvPr id="16" name="Content-Placeholder-8-19">
            <a:extLst xmlns:a="http://schemas.openxmlformats.org/drawingml/2006/main">
              <a:ext uri="{FF2B5EF4-FFF2-40B4-BE49-F238E27FC236}">
                <a16:creationId xmlns:a16="http://schemas.microsoft.com/office/drawing/2014/main" id="{F924A9A4-DA16-445F-B91A-19E800B3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Tailored</a:t>
            </a:r>
          </a:p>
        </p:txBody>
      </p:sp>
      <p:sp>
        <p:nvSpPr>
          <p:cNvPr id="17" name="Content-Placeholder-8-21">
            <a:extLst xmlns:a="http://schemas.openxmlformats.org/drawingml/2006/main">
              <a:ext uri="{FF2B5EF4-FFF2-40B4-BE49-F238E27FC236}">
                <a16:creationId xmlns:a16="http://schemas.microsoft.com/office/drawing/2014/main" id="{602130AC-9529-4DEA-A56C-D57DDF6E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2316194"/>
            <a:ext cx="3070193" cy="2039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Discovery pilot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Map one workflow, onboard core data and agree success measures.</a:t>
            </a:r>
          </a:p>
        </p:txBody>
      </p:sp>
    </p:spTree>
    <p:extLst>
      <p:ext uri="{BB962C8B-B14F-4D97-AF65-F5344CB8AC3E}">
        <p14:creationId xmlns:p14="http://schemas.microsoft.com/office/powerpoint/2010/main" val="20078610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772A835-EFC1-4DBE-9005-09C436CC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A79E150-7326-4D33-90B3-96859161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customers should have repeatable B2B sales complexity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C93E8E0-2C6D-4E87-A7A6-0C72A083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Manufacturers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Frequent RFQs, product specifications, inventory or capacity checks and multi-department handoff.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1460241D-FB40-445A-875E-AECC7AA0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B2B operators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Repeated quotation, negotiation, PO and follow-up processes with clear commercial policies.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EF144114-2CCC-4A63-9457-C968DDC4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MSMEs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Owner-led sales, limited CRM discipline and heavy dependence on email, WhatsApp and spreadsheets.</a:t>
            </a:r>
          </a:p>
        </p:txBody>
      </p:sp>
    </p:spTree>
    <p:extLst>
      <p:ext uri="{BB962C8B-B14F-4D97-AF65-F5344CB8AC3E}">
        <p14:creationId xmlns:p14="http://schemas.microsoft.com/office/powerpoint/2010/main" val="21447697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9251EBE-FA60-4FCB-BB8C-F0091B5F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A280DCF-5E38-4F69-8D55-F7EE7DD8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Trust comes before autonomy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1608546-6FF1-45FA-A269-F370A180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A8A2598-E3B1-478C-A07B-D6C941AB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E00562E-AD73-4683-A65E-6958906F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4889CA04-87B9-4F3E-9F1F-B95ABB1F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58993D03-3B71-4F11-A7C2-98227012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Prototype foundation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CRM data foundation, customer identity, channel ingestion, structured business data, persistent workflows and audit events.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70E56722-B783-4E22-95EE-636B6373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442F18BD-9F86-428D-AC63-0CF933AD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Owner-control layer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service identity, controlled tools, configurable authority, durable action approvals and the founder command centre.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74570781-3B98-4547-9524-4CC0A7A3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D0FAA611-2663-41CF-9C0B-3C57BD8E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Pilot-led autonomy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with real workflows, measure outcomes and gradually enable low-risk automatic actions.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F92FF2E-17A2-4EE4-B733-D0A9B64E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E842051-6A0E-47BE-9DDA-43CD694F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58E820F-90E7-45C6-AAD2-5B5B9958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807635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4A21508-E1E2-48A1-B567-D55DA1A4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Let us map one
real sales workflow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E44CB54-41D9-442C-8BBC-5B537781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Manufacturers &amp; MSMEs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Inquiry → quotation → PO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Discovery · validation · pilot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7E703C7-6309-45BE-993B-12AB4303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PILOT ASK</a:t>
            </a:r>
          </a:p>
        </p:txBody>
      </p:sp>
    </p:spTree>
    <p:extLst>
      <p:ext uri="{BB962C8B-B14F-4D97-AF65-F5344CB8AC3E}">
        <p14:creationId xmlns:p14="http://schemas.microsoft.com/office/powerpoint/2010/main" val="429131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2026-08-08T07:30:23.9630000Z</dcterms:created>
  <dcterms:modified xsi:type="dcterms:W3CDTF">2026-08-08T07:30:23.9630000Z</dcterms:modified>
</coreProperties>
</file>